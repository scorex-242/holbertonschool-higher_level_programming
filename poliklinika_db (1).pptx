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CAF831-C678-4258-965F-21C521DED167}">
  <a:tblStyle styleId="{F6CAF831-C678-4258-965F-21C521DED16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2E86C1">
              <a:alpha val="18039"/>
            </a:srgbClr>
          </a:solidFill>
          <a:ln cap="flat" cmpd="sng" w="12700">
            <a:solidFill>
              <a:srgbClr val="2E86C1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117A65">
              <a:alpha val="12156"/>
            </a:srgbClr>
          </a:solidFill>
          <a:ln cap="flat" cmpd="sng" w="12700">
            <a:solidFill>
              <a:srgbClr val="117A65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-1097280" y="3200400"/>
            <a:ext cx="2743200" cy="2743200"/>
          </a:xfrm>
          <a:prstGeom prst="ellipse">
            <a:avLst/>
          </a:prstGeom>
          <a:solidFill>
            <a:srgbClr val="1B4F72">
              <a:alpha val="25098"/>
            </a:srgbClr>
          </a:solidFill>
          <a:ln cap="flat" cmpd="sng" w="12700">
            <a:solidFill>
              <a:srgbClr val="1B4F72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008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457200" y="137145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ПОЛИКЛИНИКА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1143000"/>
            <a:ext cx="7772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База данных на MySQL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2240280"/>
            <a:ext cx="6400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Самостоятельная работа по дисциплине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«Управление базами данных»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3108960"/>
            <a:ext cx="3200400" cy="36576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57200" y="3291840"/>
            <a:ext cx="2560320" cy="731520"/>
          </a:xfrm>
          <a:prstGeom prst="rect">
            <a:avLst/>
          </a:prstGeom>
          <a:solidFill>
            <a:srgbClr val="1B4F72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457200" y="331927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тем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57200" y="366674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полностью разобраны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3291840" y="3291840"/>
            <a:ext cx="2377440" cy="731520"/>
          </a:xfrm>
          <a:prstGeom prst="rect">
            <a:avLst/>
          </a:prstGeom>
          <a:solidFill>
            <a:srgbClr val="1B4F72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3291840" y="331927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таблиц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3291840" y="366674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сущностей БД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943600" y="3291840"/>
            <a:ext cx="2743200" cy="731520"/>
          </a:xfrm>
          <a:prstGeom prst="rect">
            <a:avLst/>
          </a:prstGeom>
          <a:solidFill>
            <a:srgbClr val="1B4F72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5943600" y="331927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триггера + 3 SP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5943600" y="366674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процедуры и автоматизация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MySQL 8.0  •  InnoDB  •  UTF-8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8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Содержание презентации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Полный план разбора 10 учебных тем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20040" y="1170432"/>
            <a:ext cx="416052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320040" y="1170432"/>
            <a:ext cx="41148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320040" y="1335024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795528" y="1225296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Системный анализ предметной области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795528" y="153619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Сущности, связи, ER-диаграмма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20040" y="1920240"/>
            <a:ext cx="416052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20040" y="1920240"/>
            <a:ext cx="41148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320040" y="208483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795528" y="197510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Логическая структура БД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795528" y="22860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Таблицы, ключи, 3НФ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320040" y="2670048"/>
            <a:ext cx="416052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320040" y="2670048"/>
            <a:ext cx="41148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320040" y="283464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795528" y="272491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Создание объектов БД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795528" y="30358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CREATE TABLE, INDEX, 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20040" y="3419856"/>
            <a:ext cx="416052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320040" y="3419856"/>
            <a:ext cx="41148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320040" y="3584448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795528" y="34747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Выборка данных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795528" y="378561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SELECT, JOIN, GROUP BY, подзапросы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20040" y="4169664"/>
            <a:ext cx="416052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320040" y="4169664"/>
            <a:ext cx="41148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20040" y="4334256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95528" y="4224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Жизненный цикл БД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95528" y="4535424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ALTER, архивирование, эксплуатация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709160" y="1170432"/>
            <a:ext cx="416052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709160" y="1170432"/>
            <a:ext cx="41148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4709160" y="1335024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184648" y="1225296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Права доступа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184648" y="153619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GRANT, REVOKE, пользователи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4709160" y="1920240"/>
            <a:ext cx="416052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4709160" y="1920240"/>
            <a:ext cx="41148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709160" y="208483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184648" y="197510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Угрозы безопасности + Internet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184648" y="22860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VIEW-экраны, веб-пользователь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709160" y="2670048"/>
            <a:ext cx="416052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709160" y="2670048"/>
            <a:ext cx="41148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4709160" y="283464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184648" y="272491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Языковые средства (DDL/DML/DCL/TCL)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184648" y="30358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Все 4 группы команд SQL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709160" y="3419856"/>
            <a:ext cx="416052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4709160" y="3419856"/>
            <a:ext cx="41148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4709160" y="3584448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184648" y="34747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Триггеры и хранимые процедуры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184648" y="378561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3 триггера + 3 PROCEDURE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709160" y="4169664"/>
            <a:ext cx="416052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709160" y="4169664"/>
            <a:ext cx="41148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4709160" y="4334256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184648" y="4224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Журнал транзакций и блокировки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184648" y="4535424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COMMIT, ROLLBACK, SAVEPOINT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8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Тема 1 — Системный анализ предметной области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Поликлиника: сущности, атрибуты, связи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274320" y="1170432"/>
            <a:ext cx="3108960" cy="365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274320" y="1170432"/>
            <a:ext cx="54864" cy="29260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384048" y="11704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СУЩНОСТИ (таблицы)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384048" y="1517904"/>
            <a:ext cx="28346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specialnosti — Специальности врачей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vrachi — Врачи и кабинеты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patsienty — Пациенты + полис ОМС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diagnozy — Справочник МКБ-10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priyomy — Приёмы (визиты)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retsept — Рецепты на препараты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274300" y="3630335"/>
            <a:ext cx="54900" cy="576000"/>
          </a:xfrm>
          <a:prstGeom prst="rect">
            <a:avLst/>
          </a:prstGeom>
          <a:solidFill>
            <a:srgbClr val="117A65"/>
          </a:solidFill>
          <a:ln cap="flat" cmpd="sng" w="12700">
            <a:solidFill>
              <a:srgbClr val="117A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384048" y="3568507"/>
            <a:ext cx="320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7A6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7A65"/>
                </a:solidFill>
                <a:latin typeface="Calibri"/>
                <a:ea typeface="Calibri"/>
                <a:cs typeface="Calibri"/>
                <a:sym typeface="Calibri"/>
              </a:rPr>
              <a:t>КЛЮЧЕВЫЕ АТРИБУТЫ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57498" y="3861003"/>
            <a:ext cx="2834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PRIMARY KEY — суррогатный INT AUTO_INCREMENT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FOREIGN KEY — ссылочная целостность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UNIQUE — полис ОМС пациента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3566160" y="1170432"/>
            <a:ext cx="5303520" cy="365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3566160" y="1170432"/>
            <a:ext cx="54864" cy="29260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3675888" y="11704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СХЕМА СВЯЗЕЙ (ER)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3749040" y="1508760"/>
            <a:ext cx="1234440" cy="3657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3749040" y="150876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specialnosti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3749040" y="2240280"/>
            <a:ext cx="1234440" cy="36576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3749040" y="224028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vrachi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749040" y="2971800"/>
            <a:ext cx="1234440" cy="365760"/>
          </a:xfrm>
          <a:prstGeom prst="rect">
            <a:avLst/>
          </a:prstGeom>
          <a:solidFill>
            <a:srgbClr val="117A65"/>
          </a:solidFill>
          <a:ln cap="flat" cmpd="sng" w="12700">
            <a:solidFill>
              <a:srgbClr val="117A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3749040" y="297180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priyomy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749040" y="3703320"/>
            <a:ext cx="1234440" cy="36576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3749040" y="370332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retsept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852160" y="2240280"/>
            <a:ext cx="1234440" cy="36576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5852160" y="224028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patsienty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852160" y="2971800"/>
            <a:ext cx="1234440" cy="36576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5852160" y="297180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diagnozy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5"/>
          <p:cNvCxnSpPr/>
          <p:nvPr/>
        </p:nvCxnSpPr>
        <p:spPr>
          <a:xfrm>
            <a:off x="4366260" y="1874520"/>
            <a:ext cx="0" cy="365760"/>
          </a:xfrm>
          <a:prstGeom prst="straightConnector1">
            <a:avLst/>
          </a:prstGeom>
          <a:noFill/>
          <a:ln cap="flat" cmpd="sng" w="1905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5"/>
          <p:cNvCxnSpPr/>
          <p:nvPr/>
        </p:nvCxnSpPr>
        <p:spPr>
          <a:xfrm>
            <a:off x="4366260" y="2606040"/>
            <a:ext cx="0" cy="365760"/>
          </a:xfrm>
          <a:prstGeom prst="straightConnector1">
            <a:avLst/>
          </a:prstGeom>
          <a:noFill/>
          <a:ln cap="flat" cmpd="sng" w="1905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" name="Google Shape;126;p5"/>
          <p:cNvCxnSpPr/>
          <p:nvPr/>
        </p:nvCxnSpPr>
        <p:spPr>
          <a:xfrm>
            <a:off x="4366260" y="3337560"/>
            <a:ext cx="0" cy="365760"/>
          </a:xfrm>
          <a:prstGeom prst="straightConnector1">
            <a:avLst/>
          </a:prstGeom>
          <a:noFill/>
          <a:ln cap="flat" cmpd="sng" w="1905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5"/>
          <p:cNvCxnSpPr/>
          <p:nvPr/>
        </p:nvCxnSpPr>
        <p:spPr>
          <a:xfrm flipH="1">
            <a:off x="4978908" y="2423160"/>
            <a:ext cx="873252" cy="640080"/>
          </a:xfrm>
          <a:prstGeom prst="straightConnector1">
            <a:avLst/>
          </a:prstGeom>
          <a:noFill/>
          <a:ln cap="flat" cmpd="sng" w="1905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5"/>
          <p:cNvCxnSpPr/>
          <p:nvPr/>
        </p:nvCxnSpPr>
        <p:spPr>
          <a:xfrm rot="10800000">
            <a:off x="4978908" y="3246120"/>
            <a:ext cx="873252" cy="91440"/>
          </a:xfrm>
          <a:prstGeom prst="straightConnector1">
            <a:avLst/>
          </a:prstGeom>
          <a:noFill/>
          <a:ln cap="flat" cmpd="sng" w="1905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5"/>
          <p:cNvSpPr/>
          <p:nvPr/>
        </p:nvSpPr>
        <p:spPr>
          <a:xfrm>
            <a:off x="4434840" y="1956817"/>
            <a:ext cx="457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1:N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434840" y="272491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1:N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434840" y="34564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1:N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349240" y="2803655"/>
            <a:ext cx="457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7A6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17A65"/>
                </a:solidFill>
                <a:latin typeface="Calibri"/>
                <a:ea typeface="Calibri"/>
                <a:cs typeface="Calibri"/>
                <a:sym typeface="Calibri"/>
              </a:rPr>
              <a:t>N:1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302790" y="3298338"/>
            <a:ext cx="457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7A6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17A65"/>
                </a:solidFill>
                <a:latin typeface="Calibri"/>
                <a:ea typeface="Calibri"/>
                <a:cs typeface="Calibri"/>
                <a:sym typeface="Calibri"/>
              </a:rPr>
              <a:t>N:1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675910" y="4507977"/>
            <a:ext cx="530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Нормализация: 3НФ • InnoDB • ON UPDATE CASCADE / ON DELETE RESTRICT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8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Тема 2 — Логическая структура БД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Описание таблиц, типов данных и ключей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274320" y="1170432"/>
            <a:ext cx="4160520" cy="1115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274320" y="1170432"/>
            <a:ext cx="4160520" cy="329184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365760" y="121615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</a:rPr>
              <a:t>specialnosti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384048" y="1554480"/>
            <a:ext cx="3931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id PK, nazvanie UNIQUE, opisanie TEXT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274320" y="2404872"/>
            <a:ext cx="4160520" cy="1115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274320" y="2404872"/>
            <a:ext cx="4160520" cy="329184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365760" y="245059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</a:rPr>
              <a:t>vrachi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84048" y="2788920"/>
            <a:ext cx="3931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id PK, familiya, imya, specialnost_id FK→specialnosti, kabinet, telefon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274320" y="3639312"/>
            <a:ext cx="4160520" cy="1115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274320" y="3639312"/>
            <a:ext cx="4160520" cy="329184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365760" y="368503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</a:rPr>
              <a:t>patsienty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84048" y="4023360"/>
            <a:ext cx="3931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id PK, ФИО, data_rozhd, pol ENUM(М/Ж), adres, polis_oms UNIQUE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4663440" y="1170432"/>
            <a:ext cx="4160520" cy="1115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4663440" y="1170432"/>
            <a:ext cx="4160520" cy="329184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4754880" y="121615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</a:rPr>
              <a:t>diagnozy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773168" y="1554480"/>
            <a:ext cx="3931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id PK, kod UNIQUE (МКБ-10), nazvanie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663440" y="2404872"/>
            <a:ext cx="4160520" cy="1115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4663440" y="2404872"/>
            <a:ext cx="4160520" cy="329184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4754880" y="245059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</a:rPr>
              <a:t>priyomy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773168" y="2788920"/>
            <a:ext cx="3931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id PK, patsient_id FK, vrach_id FK, diagnoz_id FK, data, status ENUM, zhaloba, naznachenie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663440" y="3639312"/>
            <a:ext cx="4160520" cy="1115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4663440" y="3639312"/>
            <a:ext cx="4160520" cy="329184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4754880" y="368503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</a:rPr>
              <a:t>retsept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773168" y="4023360"/>
            <a:ext cx="3931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id PK, priyom_id FK→priyomy, preparat, doza, kurs_dney TINYINT, data_vydachi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274320" y="4645152"/>
            <a:ext cx="8595360" cy="274320"/>
          </a:xfrm>
          <a:prstGeom prst="rect">
            <a:avLst/>
          </a:prstGeom>
          <a:solidFill>
            <a:srgbClr val="D6EAF8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274320" y="4654296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PK = PRIMARY KEY   •   FK = FOREIGN KEY   •   UNIQUE = уникальное поле   •   ENUM = фиксированный список значений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8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Тема 3 — Создание объектов БД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CREATE TABLE, INDEX, VIEW — примеры из нашей БД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274320" y="1170432"/>
            <a:ext cx="4114800" cy="2011680"/>
          </a:xfrm>
          <a:prstGeom prst="rect">
            <a:avLst/>
          </a:prstGeom>
          <a:solidFill>
            <a:srgbClr val="1A252F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384048" y="1243584"/>
            <a:ext cx="3931920" cy="1865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FB3D3"/>
                </a:solidFill>
                <a:latin typeface="Courier New"/>
                <a:ea typeface="Courier New"/>
                <a:cs typeface="Courier New"/>
                <a:sym typeface="Courier New"/>
              </a:rPr>
              <a:t>-- Создание таблицы пациентов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patsienty 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id     INT UNSIGNED AUTO_INCREMENT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       PRIMARY KEY,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familiya VARCHAR(60) NOT NULL,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imya     VARCHAR(60) NOT NULL,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data_r   DATE        NOT NULL,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pol      ENUM('М','Ж') NOT NULL,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polis_oms VARCHAR(20) UNIQUE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274320" y="3291840"/>
            <a:ext cx="4114800" cy="1554480"/>
          </a:xfrm>
          <a:prstGeom prst="rect">
            <a:avLst/>
          </a:prstGeom>
          <a:solidFill>
            <a:srgbClr val="1A252F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384048" y="3364992"/>
            <a:ext cx="3931920" cy="1408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FB3D3"/>
                </a:solidFill>
                <a:latin typeface="Courier New"/>
                <a:ea typeface="Courier New"/>
                <a:cs typeface="Courier New"/>
                <a:sym typeface="Courier New"/>
              </a:rPr>
              <a:t>-- Индексы для быстрого поиска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CREATE INDEX idx_priyom_pat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ON priyomy(patsient_id);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CREATE INDEX idx_priyom_data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ON priyomy(data_priyoma);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617720" y="1170432"/>
            <a:ext cx="4251960" cy="365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4617720" y="1170432"/>
            <a:ext cx="54864" cy="29260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4727448" y="11704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ЧТО СОЗДАЁТСЯ В НАШЕЙ БД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709160" y="1536192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102352" y="15361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6 таблиц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5102352" y="1719072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CREATE TABLE с FK-ограничениями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709160" y="2066544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102352" y="2066544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6 индексов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102352" y="2249424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По FK-полям и дате приёма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709160" y="2596896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👁️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5102352" y="259689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 представления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5102352" y="2779776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VIEW для Web-интерфейса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4709160" y="3127248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5102352" y="312724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 процедуры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102352" y="3310128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Добавление, история, статистика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709160" y="3657600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5102352" y="365760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 триггера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5102352" y="384048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Лог удаления, проверка даты, очистка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709160" y="4187952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5102352" y="418795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 архив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102352" y="4370832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priyomy_archive для старых записей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Все объекты создаются одним SQL-файлом poliklinika_db.sql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8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Тема 4 — Выборка данных из БД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SELECT · JOIN · GROUP BY · подзапросы · агрегация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256032" y="1170432"/>
            <a:ext cx="4160520" cy="17190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256032" y="1170432"/>
            <a:ext cx="4160520" cy="27432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347472" y="120700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Простая выборка всех пациентов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329184" y="1499616"/>
            <a:ext cx="4005072" cy="987552"/>
          </a:xfrm>
          <a:prstGeom prst="rect">
            <a:avLst/>
          </a:prstGeom>
          <a:solidFill>
            <a:srgbClr val="1A252F"/>
          </a:solidFill>
          <a:ln cap="flat" cmpd="sng" w="9525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384048" y="1536192"/>
            <a:ext cx="38953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7FB3D3"/>
                </a:solidFill>
                <a:latin typeface="Courier New"/>
                <a:ea typeface="Courier New"/>
                <a:cs typeface="Courier New"/>
                <a:sym typeface="Courier New"/>
              </a:rPr>
              <a:t>SELECT * FROM patsienty;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347472" y="254203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7A65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117A65"/>
                </a:solidFill>
                <a:latin typeface="Calibri"/>
                <a:ea typeface="Calibri"/>
                <a:cs typeface="Calibri"/>
                <a:sym typeface="Calibri"/>
              </a:rPr>
              <a:t>→ Возвращает все строки таблицы patsienty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256032" y="3035808"/>
            <a:ext cx="4160520" cy="17190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256032" y="3035808"/>
            <a:ext cx="4160520" cy="27432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347472" y="3072384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JOIN: завершённые приёмы с врачом и диагнозом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329184" y="3364992"/>
            <a:ext cx="4005072" cy="987552"/>
          </a:xfrm>
          <a:prstGeom prst="rect">
            <a:avLst/>
          </a:prstGeom>
          <a:solidFill>
            <a:srgbClr val="1A252F"/>
          </a:solidFill>
          <a:ln cap="flat" cmpd="sng" w="9525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384048" y="3401568"/>
            <a:ext cx="38953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7FB3D3"/>
                </a:solidFill>
                <a:latin typeface="Courier New"/>
                <a:ea typeface="Courier New"/>
                <a:cs typeface="Courier New"/>
                <a:sym typeface="Courier New"/>
              </a:rPr>
              <a:t>SELECT CONCAT(pat.familiya,' ',pat.imya)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AS patsient, d.nazvanie AS diagnoz,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pr.data_priyoma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FROM priyomy pr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JOIN patsienty pat ON pr.patsient_id=pat.id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JOIN vrachi v ON pr.vrach_id = v.id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LEFT JOIN diagnozy d ON pr.diagnoz_id=d.id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WHERE pr.status = 'завершён';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347472" y="440740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7A65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117A65"/>
                </a:solidFill>
                <a:latin typeface="Calibri"/>
                <a:ea typeface="Calibri"/>
                <a:cs typeface="Calibri"/>
                <a:sym typeface="Calibri"/>
              </a:rPr>
              <a:t>→ 7 строк — все завершённые приёмы с полной информацией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681728" y="1170432"/>
            <a:ext cx="4160520" cy="17190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4681728" y="1170432"/>
            <a:ext cx="4160520" cy="27432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4773168" y="120700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GROUP BY: количество приёмов у каждого врача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4754880" y="1499616"/>
            <a:ext cx="4005072" cy="987552"/>
          </a:xfrm>
          <a:prstGeom prst="rect">
            <a:avLst/>
          </a:prstGeom>
          <a:solidFill>
            <a:srgbClr val="1A252F"/>
          </a:solidFill>
          <a:ln cap="flat" cmpd="sng" w="9525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4809744" y="1536192"/>
            <a:ext cx="38953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7FB3D3"/>
                </a:solidFill>
                <a:latin typeface="Courier New"/>
                <a:ea typeface="Courier New"/>
                <a:cs typeface="Courier New"/>
                <a:sym typeface="Courier New"/>
              </a:rPr>
              <a:t>SELECT CONCAT(v.familiya,' ',v.imya),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     COUNT(p.id) AS kol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FROM vrachi v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LEFT JOIN priyomy p ON v.id = p.vrach_id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GROUP BY v.id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ORDER BY kol DESC;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773168" y="254203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7A65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117A65"/>
                </a:solidFill>
                <a:latin typeface="Calibri"/>
                <a:ea typeface="Calibri"/>
                <a:cs typeface="Calibri"/>
                <a:sym typeface="Calibri"/>
              </a:rPr>
              <a:t>→ Агрегация: Иванов — 3, Смирнова — 3, Петров — 1...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681728" y="3035808"/>
            <a:ext cx="4160520" cy="17190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4681728" y="3035808"/>
            <a:ext cx="4160520" cy="27432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4773168" y="3072384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Подзапрос: пациенты с более чем 1 приёмом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754880" y="3364992"/>
            <a:ext cx="4005072" cy="987552"/>
          </a:xfrm>
          <a:prstGeom prst="rect">
            <a:avLst/>
          </a:prstGeom>
          <a:solidFill>
            <a:srgbClr val="1A252F"/>
          </a:solidFill>
          <a:ln cap="flat" cmpd="sng" w="9525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4809744" y="3401568"/>
            <a:ext cx="38953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7FB3D3"/>
                </a:solidFill>
                <a:latin typeface="Courier New"/>
                <a:ea typeface="Courier New"/>
                <a:cs typeface="Courier New"/>
                <a:sym typeface="Courier New"/>
              </a:rPr>
              <a:t>SELECT familiya, imya FROM patsienty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WHERE id IN (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SELECT patsient_id FROM priyomy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GROUP BY patsient_id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HAVING COUNT(*) &gt; 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773168" y="440740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7A65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117A65"/>
                </a:solidFill>
                <a:latin typeface="Calibri"/>
                <a:ea typeface="Calibri"/>
                <a:cs typeface="Calibri"/>
                <a:sym typeface="Calibri"/>
              </a:rPr>
              <a:t>→ Алиев Фарид, Гасанова Лейла — оба пришли дважды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8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Темы 5–6 — Жизненный цикл БД и Права доступа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ALTER TABLE · архивирование · пользователи · GRANT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256032" y="1170432"/>
            <a:ext cx="4160520" cy="3675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256032" y="1170432"/>
            <a:ext cx="54864" cy="29260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365760" y="11704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ЖИЗНЕННЫЙ ЦИКЛ БД (Тема 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320040" y="1572768"/>
            <a:ext cx="274320" cy="274320"/>
          </a:xfrm>
          <a:prstGeom prst="ellipse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320040" y="157276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676656" y="1536192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676656" y="176479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ER-диаграмма, нормализация до 3НФ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320040" y="2066544"/>
            <a:ext cx="274320" cy="274320"/>
          </a:xfrm>
          <a:prstGeom prst="ellipse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320040" y="206654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676656" y="202996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Создание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676656" y="225856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CREATE DATABASE, CREATE TABLE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320040" y="2560320"/>
            <a:ext cx="274320" cy="274320"/>
          </a:xfrm>
          <a:prstGeom prst="ellipse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320040" y="25603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676656" y="2523744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Наполнение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676656" y="2752344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INSERT — тестовые данные (5 врачей, 5 пациентов...)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320040" y="3054096"/>
            <a:ext cx="274320" cy="274320"/>
          </a:xfrm>
          <a:prstGeom prst="ellipse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320040" y="305409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676656" y="3017520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Эксплуатация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676656" y="324612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SELECT, INSERT приёмов, UPDATE данных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320040" y="3547872"/>
            <a:ext cx="274320" cy="274320"/>
          </a:xfrm>
          <a:prstGeom prst="ellipse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320040" y="354787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676656" y="3511296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Сопровождение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676694" y="3685021"/>
            <a:ext cx="3566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ALTER TABLE — добавили столбец email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320040" y="4041648"/>
            <a:ext cx="274320" cy="274320"/>
          </a:xfrm>
          <a:prstGeom prst="ellipse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320040" y="404164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676656" y="4005072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Архивирование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676656" y="423367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CREATE TABLE priyomy_archive + INSERT старых записей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183775" y="4434850"/>
            <a:ext cx="4160400" cy="1115400"/>
          </a:xfrm>
          <a:prstGeom prst="rect">
            <a:avLst/>
          </a:prstGeom>
          <a:solidFill>
            <a:srgbClr val="1A252F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411475" y="4443975"/>
            <a:ext cx="4005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FB3D3"/>
                </a:solidFill>
                <a:latin typeface="Courier New"/>
                <a:ea typeface="Courier New"/>
                <a:cs typeface="Courier New"/>
                <a:sym typeface="Courier New"/>
              </a:rPr>
              <a:t>-- Сопровождение: добавляем поле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patsienty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ADD COLUMN email VARCHAR(100) AFTER telefon;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-- Архивирование старых приёмов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priyomy_archive LIKE priyomy;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priyomy_archive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SELECT * FROM priyomy WHERE data_priyoma &lt; '2024-12-01';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4645152" y="1170432"/>
            <a:ext cx="4224528" cy="3675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4645152" y="1170432"/>
            <a:ext cx="54864" cy="29260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4754880" y="11704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ПРАВА ДОСТУПА (Тема 6)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4709160" y="1536192"/>
            <a:ext cx="4069080" cy="658368"/>
          </a:xfrm>
          <a:prstGeom prst="rect">
            <a:avLst/>
          </a:prstGeom>
          <a:solidFill>
            <a:srgbClr val="F0F8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4709160" y="1536192"/>
            <a:ext cx="109728" cy="658368"/>
          </a:xfrm>
          <a:prstGeom prst="rect">
            <a:avLst/>
          </a:prstGeom>
          <a:solidFill>
            <a:srgbClr val="922B21"/>
          </a:solidFill>
          <a:ln cap="flat" cmpd="sng" w="12700">
            <a:solidFill>
              <a:srgbClr val="922B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4864608" y="1609344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ourier New"/>
                <a:ea typeface="Courier New"/>
                <a:cs typeface="Courier New"/>
                <a:sym typeface="Courier New"/>
              </a:rPr>
              <a:t>'db_admin'@'localhost'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4864608" y="186537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ALL PRIVILEGES — полный доступ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4709160" y="2286000"/>
            <a:ext cx="4069080" cy="658368"/>
          </a:xfrm>
          <a:prstGeom prst="rect">
            <a:avLst/>
          </a:prstGeom>
          <a:solidFill>
            <a:srgbClr val="F0F8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4709160" y="2286000"/>
            <a:ext cx="109728" cy="658368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4864608" y="2359152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ourier New"/>
                <a:ea typeface="Courier New"/>
                <a:cs typeface="Courier New"/>
                <a:sym typeface="Courier New"/>
              </a:rPr>
              <a:t>'vrach_user'@'localhost'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4864608" y="261518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SELECT patsienty; INSERT/UPDATE priyomy; INSERT retsept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4709160" y="3035808"/>
            <a:ext cx="4069080" cy="658368"/>
          </a:xfrm>
          <a:prstGeom prst="rect">
            <a:avLst/>
          </a:prstGeom>
          <a:solidFill>
            <a:srgbClr val="F0F8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4709160" y="3035808"/>
            <a:ext cx="109728" cy="658368"/>
          </a:xfrm>
          <a:prstGeom prst="rect">
            <a:avLst/>
          </a:prstGeom>
          <a:solidFill>
            <a:srgbClr val="117A65"/>
          </a:solidFill>
          <a:ln cap="flat" cmpd="sng" w="12700">
            <a:solidFill>
              <a:srgbClr val="117A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4864608" y="3108960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ourier New"/>
                <a:ea typeface="Courier New"/>
                <a:cs typeface="Courier New"/>
                <a:sym typeface="Courier New"/>
              </a:rPr>
              <a:t>'registratura'@'localhost'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4864608" y="33649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SELECT/INSERT/UPDATE patsienty, priyomy; SELECT vrachi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4709160" y="3785616"/>
            <a:ext cx="4069080" cy="658368"/>
          </a:xfrm>
          <a:prstGeom prst="rect">
            <a:avLst/>
          </a:prstGeom>
          <a:solidFill>
            <a:srgbClr val="F0F8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4709160" y="3785616"/>
            <a:ext cx="109728" cy="658368"/>
          </a:xfrm>
          <a:prstGeom prst="rect">
            <a:avLst/>
          </a:prstGeom>
          <a:solidFill>
            <a:srgbClr val="B7950B"/>
          </a:solidFill>
          <a:ln cap="flat" cmpd="sng" w="12700">
            <a:solidFill>
              <a:srgbClr val="B795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4864608" y="3858768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ourier New"/>
                <a:ea typeface="Courier New"/>
                <a:cs typeface="Courier New"/>
                <a:sym typeface="Courier New"/>
              </a:rPr>
              <a:t>'analitik'@'localhost'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4864608" y="4114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SELECT на все таблицы — только чтение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4645152" y="4553712"/>
            <a:ext cx="4224528" cy="530352"/>
          </a:xfrm>
          <a:prstGeom prst="rect">
            <a:avLst/>
          </a:prstGeom>
          <a:solidFill>
            <a:srgbClr val="1A252F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4754880" y="4626864"/>
            <a:ext cx="4041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FB3D3"/>
                </a:solidFill>
                <a:latin typeface="Courier New"/>
                <a:ea typeface="Courier New"/>
                <a:cs typeface="Courier New"/>
                <a:sym typeface="Courier New"/>
              </a:rPr>
              <a:t>GRANT SELECT, INSERT, UPDATE ON poliklinika.priyomy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TO 'vrach_user'@'localhost';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FLUSH PRIVILEGES;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8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Тема 7 — Угрозы безопасности при взаимодействии с Internet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VIEW как защитный экран · минимальные права для веб-приложения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256032" y="1170432"/>
            <a:ext cx="3931920" cy="2103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256032" y="1170432"/>
            <a:ext cx="54864" cy="292608"/>
          </a:xfrm>
          <a:prstGeom prst="rect">
            <a:avLst/>
          </a:prstGeom>
          <a:solidFill>
            <a:srgbClr val="922B21"/>
          </a:solidFill>
          <a:ln cap="flat" cmpd="sng" w="12700">
            <a:solidFill>
              <a:srgbClr val="922B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365760" y="11704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2B2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ОСНОВНЫЕ УГРОЗЫ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365760" y="1508760"/>
            <a:ext cx="3703320" cy="162763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22B2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SQL-инъекции — вредоносные запросы через веб-форму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22B2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Утечка персональных данных пациентов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22B2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Несанкционированный доступ к таблицам напрямую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22B2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Атаки на веб-сервер (прямое подключение к MySQL)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22B2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Перебор паролей учётных записей СУБД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256032" y="3383280"/>
            <a:ext cx="393192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256032" y="3383280"/>
            <a:ext cx="54864" cy="292608"/>
          </a:xfrm>
          <a:prstGeom prst="rect">
            <a:avLst/>
          </a:prstGeom>
          <a:solidFill>
            <a:srgbClr val="117A65"/>
          </a:solidFill>
          <a:ln cap="flat" cmpd="sng" w="12700">
            <a:solidFill>
              <a:srgbClr val="117A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365760" y="338328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7A6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7A65"/>
                </a:solidFill>
                <a:latin typeface="Calibri"/>
                <a:ea typeface="Calibri"/>
                <a:cs typeface="Calibri"/>
                <a:sym typeface="Calibri"/>
              </a:rPr>
              <a:t>КАК ЗАЩИТИЛИСЬ?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365760" y="3703320"/>
            <a:ext cx="3749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7A65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17A65"/>
                </a:solidFill>
                <a:latin typeface="Calibri"/>
                <a:ea typeface="Calibri"/>
                <a:cs typeface="Calibri"/>
                <a:sym typeface="Calibri"/>
              </a:rPr>
              <a:t>Создали VIEW — веб-приложение видит только нужные поля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7A65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17A65"/>
                </a:solidFill>
                <a:latin typeface="Calibri"/>
                <a:ea typeface="Calibri"/>
                <a:cs typeface="Calibri"/>
                <a:sym typeface="Calibri"/>
              </a:rPr>
              <a:t>Пользователь web_app имеет доступ ТОЛЬКО к VIEW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7A65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17A65"/>
                </a:solidFill>
                <a:latin typeface="Calibri"/>
                <a:ea typeface="Calibri"/>
                <a:cs typeface="Calibri"/>
                <a:sym typeface="Calibri"/>
              </a:rPr>
              <a:t>Пароли — надёжные, пользователи без root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7A65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17A65"/>
                </a:solidFill>
                <a:latin typeface="Calibri"/>
                <a:ea typeface="Calibri"/>
                <a:cs typeface="Calibri"/>
                <a:sym typeface="Calibri"/>
              </a:rPr>
              <a:t>Привязка '@localhost' или '@%' с ограничением IP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4389120" y="1170432"/>
            <a:ext cx="4480560" cy="1691640"/>
          </a:xfrm>
          <a:prstGeom prst="rect">
            <a:avLst/>
          </a:prstGeom>
          <a:solidFill>
            <a:srgbClr val="1A252F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4498848" y="1243584"/>
            <a:ext cx="4297680" cy="1545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FB3D3"/>
                </a:solidFill>
                <a:latin typeface="Courier New"/>
                <a:ea typeface="Courier New"/>
                <a:cs typeface="Courier New"/>
                <a:sym typeface="Courier New"/>
              </a:rPr>
              <a:t>-- Безопасное представление для сайта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CREATE OR REPLACE VIEW view_vrachi_site 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SELECT v.id, v.familiya, v.imya,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     s.nazvanie AS specialnost,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     v.kabinet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FROM vrachi 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JOIN specialnosti 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ON v.specialnost_id = s.id;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-- НЕ раскрываем: telefon, прямые 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4389120" y="2971800"/>
            <a:ext cx="4480560" cy="1389888"/>
          </a:xfrm>
          <a:prstGeom prst="rect">
            <a:avLst/>
          </a:prstGeom>
          <a:solidFill>
            <a:srgbClr val="1A252F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4498848" y="3044952"/>
            <a:ext cx="429768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FB3D3"/>
                </a:solidFill>
                <a:latin typeface="Courier New"/>
                <a:ea typeface="Courier New"/>
                <a:cs typeface="Courier New"/>
                <a:sym typeface="Courier New"/>
              </a:rPr>
              <a:t>-- Web-пользователь видит ТОЛЬКО 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CREATE USER 'web_app'@'%'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IDENTIFIED BY 'WebAppPass#2024';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GRANT SELECT 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poliklinika.view_vrachi_site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TO 'web_app'@'%';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-- К таблице vrachi — доступа НЕТ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4407408" y="4462272"/>
            <a:ext cx="1188720" cy="38404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4407408" y="4462272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 Web App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10"/>
          <p:cNvCxnSpPr/>
          <p:nvPr/>
        </p:nvCxnSpPr>
        <p:spPr>
          <a:xfrm>
            <a:off x="5596128" y="4654296"/>
            <a:ext cx="502920" cy="0"/>
          </a:xfrm>
          <a:prstGeom prst="straightConnector1">
            <a:avLst/>
          </a:prstGeom>
          <a:noFill/>
          <a:ln cap="flat" cmpd="sng" w="19050">
            <a:solidFill>
              <a:srgbClr val="117A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10"/>
          <p:cNvSpPr/>
          <p:nvPr/>
        </p:nvSpPr>
        <p:spPr>
          <a:xfrm>
            <a:off x="6099048" y="4462272"/>
            <a:ext cx="1188720" cy="384048"/>
          </a:xfrm>
          <a:prstGeom prst="rect">
            <a:avLst/>
          </a:prstGeom>
          <a:solidFill>
            <a:srgbClr val="117A65"/>
          </a:solidFill>
          <a:ln cap="flat" cmpd="sng" w="12700">
            <a:solidFill>
              <a:srgbClr val="117A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6099048" y="4462272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👁️ 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p10"/>
          <p:cNvCxnSpPr/>
          <p:nvPr/>
        </p:nvCxnSpPr>
        <p:spPr>
          <a:xfrm>
            <a:off x="7287768" y="4654296"/>
            <a:ext cx="502920" cy="0"/>
          </a:xfrm>
          <a:prstGeom prst="straightConnector1">
            <a:avLst/>
          </a:prstGeom>
          <a:noFill/>
          <a:ln cap="flat" cmpd="sng" w="1905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p10"/>
          <p:cNvSpPr/>
          <p:nvPr/>
        </p:nvSpPr>
        <p:spPr>
          <a:xfrm>
            <a:off x="7790688" y="4462272"/>
            <a:ext cx="1078992" cy="38404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7790688" y="4462272"/>
            <a:ext cx="10789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🗄️ TABLE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6099048" y="487375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только через 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8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Тема 8 — Языковые средства управления СУБД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DDL · DML · DCL · TCL — все 4 группы команд 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256032" y="1170432"/>
            <a:ext cx="416052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256032" y="1170432"/>
            <a:ext cx="4160520" cy="38404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347472" y="122529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DDL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1005840" y="1261872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Data Definition Language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347472" y="1627632"/>
            <a:ext cx="219456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CREATE — создание объектов (таблицы, индексы, представления)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ALTER TABLE — добавили колонку email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DROP — удаление объектов (демонстрационно)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2587752" y="1627632"/>
            <a:ext cx="1737360" cy="1261872"/>
          </a:xfrm>
          <a:prstGeom prst="rect">
            <a:avLst/>
          </a:prstGeom>
          <a:solidFill>
            <a:srgbClr val="1A252F"/>
          </a:solidFill>
          <a:ln cap="flat" cmpd="sng" w="9525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2679192" y="1719072"/>
            <a:ext cx="16276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7FB3D3"/>
                </a:solidFill>
                <a:latin typeface="Courier New"/>
                <a:ea typeface="Courier New"/>
                <a:cs typeface="Courier New"/>
                <a:sym typeface="Courier New"/>
              </a:rPr>
              <a:t>CREATE DATABASE poliklinika;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patsienty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ADD COLUMN email VARCHAR(100);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256032" y="3182112"/>
            <a:ext cx="416052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1"/>
          <p:cNvSpPr/>
          <p:nvPr/>
        </p:nvSpPr>
        <p:spPr>
          <a:xfrm>
            <a:off x="256032" y="3182112"/>
            <a:ext cx="4160520" cy="384048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1"/>
          <p:cNvSpPr/>
          <p:nvPr/>
        </p:nvSpPr>
        <p:spPr>
          <a:xfrm>
            <a:off x="347472" y="323697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DML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1005840" y="3273552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Data Manipulation Language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347472" y="3639312"/>
            <a:ext cx="219456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INSERT — добавление врачей, пациентов, приёмов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UPDATE — изменение кабинета врача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DELETE — удаление устаревших записей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2587752" y="3639312"/>
            <a:ext cx="1737360" cy="1261872"/>
          </a:xfrm>
          <a:prstGeom prst="rect">
            <a:avLst/>
          </a:prstGeom>
          <a:solidFill>
            <a:srgbClr val="1A252F"/>
          </a:solidFill>
          <a:ln cap="flat" cmpd="sng" w="9525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2679192" y="3730752"/>
            <a:ext cx="16276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7FB3D3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priyomy (...) VALUES (...);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UPDATE vrachi SET kabinet='102'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WHERE id = 1;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4681728" y="1170432"/>
            <a:ext cx="416052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1"/>
          <p:cNvSpPr/>
          <p:nvPr/>
        </p:nvSpPr>
        <p:spPr>
          <a:xfrm>
            <a:off x="4681728" y="1170432"/>
            <a:ext cx="4160520" cy="384048"/>
          </a:xfrm>
          <a:prstGeom prst="rect">
            <a:avLst/>
          </a:prstGeom>
          <a:solidFill>
            <a:srgbClr val="117A65"/>
          </a:solidFill>
          <a:ln cap="flat" cmpd="sng" w="12700">
            <a:solidFill>
              <a:srgbClr val="117A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4773168" y="122529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DCL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5431536" y="1261872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Data Control Language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4773168" y="1627632"/>
            <a:ext cx="219456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GRANT — выдача прав пользователям (4 роли)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REVOKE — отзыв прав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FLUSH PRIVILEGES — применение изменений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7013448" y="1627632"/>
            <a:ext cx="1737360" cy="1261872"/>
          </a:xfrm>
          <a:prstGeom prst="rect">
            <a:avLst/>
          </a:prstGeom>
          <a:solidFill>
            <a:srgbClr val="1A252F"/>
          </a:solidFill>
          <a:ln cap="flat" cmpd="sng" w="9525">
            <a:solidFill>
              <a:srgbClr val="117A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1"/>
          <p:cNvSpPr/>
          <p:nvPr/>
        </p:nvSpPr>
        <p:spPr>
          <a:xfrm>
            <a:off x="7104888" y="1719072"/>
            <a:ext cx="16276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7FB3D3"/>
                </a:solidFill>
                <a:latin typeface="Courier New"/>
                <a:ea typeface="Courier New"/>
                <a:cs typeface="Courier New"/>
                <a:sym typeface="Courier New"/>
              </a:rPr>
              <a:t>GRANT SELECT, INSERT 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poliklinika.priyomy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TO 'vrach_user'@'localhost';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4681728" y="3182112"/>
            <a:ext cx="416052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4681728" y="3182112"/>
            <a:ext cx="4160520" cy="38404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1"/>
          <p:cNvSpPr/>
          <p:nvPr/>
        </p:nvSpPr>
        <p:spPr>
          <a:xfrm>
            <a:off x="4773168" y="323697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TCL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5431536" y="3273552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Transaction Control Language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4773168" y="3639312"/>
            <a:ext cx="219456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START TRANSACTION — начало транзакции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COMMIT — фиксация изменений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ROLLBACK — откат • SAVEPOINT — точка сохранения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7013448" y="3639312"/>
            <a:ext cx="1737360" cy="1261872"/>
          </a:xfrm>
          <a:prstGeom prst="rect">
            <a:avLst/>
          </a:prstGeom>
          <a:solidFill>
            <a:srgbClr val="1A252F"/>
          </a:solidFill>
          <a:ln cap="flat" cmpd="sng" w="9525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7104888" y="3730752"/>
            <a:ext cx="16276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7FB3D3"/>
                </a:solidFill>
                <a:latin typeface="Courier New"/>
                <a:ea typeface="Courier New"/>
                <a:cs typeface="Courier New"/>
                <a:sym typeface="Courier New"/>
              </a:rPr>
              <a:t>START TRANSACTION;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INSERT INTO priyomy ...;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INSERT INTO retsept ...;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COMMIT;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256032" y="5010912"/>
            <a:ext cx="8631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SQL = DDL + DML + DCL + TCL — полный набор инструментов управления реляционной СУБД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8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Тема 9 — Хранимые процедуры (Stored Procedures)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3 процедуры для основных операций поликлиники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256032" y="1170432"/>
            <a:ext cx="2743200" cy="3675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2"/>
          <p:cNvSpPr/>
          <p:nvPr/>
        </p:nvSpPr>
        <p:spPr>
          <a:xfrm>
            <a:off x="256032" y="1170432"/>
            <a:ext cx="274320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329184" y="120700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SP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768096" y="120700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sp_dobavit_patsienta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329184" y="1572768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Добавляет нового пациента и возвращает его 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329184" y="1938528"/>
            <a:ext cx="2606040" cy="2633472"/>
          </a:xfrm>
          <a:prstGeom prst="rect">
            <a:avLst/>
          </a:prstGeom>
          <a:solidFill>
            <a:srgbClr val="1A252F"/>
          </a:solidFill>
          <a:ln cap="flat" cmpd="sng" w="9525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393192" y="2011680"/>
            <a:ext cx="2487168" cy="250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7FB3D3"/>
                </a:solidFill>
                <a:latin typeface="Courier New"/>
                <a:ea typeface="Courier New"/>
                <a:cs typeface="Courier New"/>
                <a:sym typeface="Courier New"/>
              </a:rPr>
              <a:t>CREATE PROCEDURE sp_dobavit_patsienta(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IN p_familiya VARCHAR(60),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IN p_imya     VARCHAR(60),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IN p_data_r   DATE,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IN p_pol      ENUM('М','Ж')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INSERT INTO patsienty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  (familiya, imya, data_rozhdeniya, pol)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VALUES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  (p_familiya, p_imya, p_data_r, p_pol);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SELECT LAST_INSERT_ID() AS noviy_id;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3227832" y="1170432"/>
            <a:ext cx="2743200" cy="3675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3227832" y="1170432"/>
            <a:ext cx="274320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3300984" y="120700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SP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3739896" y="120700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sp_istoriya_bolezni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3300984" y="1572768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Полная история приёмов пациента с диагнозами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3300984" y="1938528"/>
            <a:ext cx="2606040" cy="2633472"/>
          </a:xfrm>
          <a:prstGeom prst="rect">
            <a:avLst/>
          </a:prstGeom>
          <a:solidFill>
            <a:srgbClr val="1A252F"/>
          </a:solidFill>
          <a:ln cap="flat" cmpd="sng" w="9525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3364992" y="2011680"/>
            <a:ext cx="2487168" cy="250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7FB3D3"/>
                </a:solidFill>
                <a:latin typeface="Courier New"/>
                <a:ea typeface="Courier New"/>
                <a:cs typeface="Courier New"/>
                <a:sym typeface="Courier New"/>
              </a:rPr>
              <a:t>CREATE PROCEDURE sp_istoriya_bolezni(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IN p_patsient_id INT UNSIGNED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SELECT pr.data_priyoma,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  CONCAT(v.familiya,' ',v.imya) AS vrach,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  d.kod, d.nazvanie AS diagnoz,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  pr.zhaloba, pr.naznachenie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FROM priyomy pr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JOIN vrachi v ON pr.vrach_id = v.id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LEFT JOIN diagnozy d ON pr.diagnoz_id=d.id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WHERE pr.patsient_id = p_patsient_id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ORDER BY pr.data_priyoma DESC;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6199632" y="1170432"/>
            <a:ext cx="2743200" cy="3675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2"/>
          <p:cNvSpPr/>
          <p:nvPr/>
        </p:nvSpPr>
        <p:spPr>
          <a:xfrm>
            <a:off x="6199632" y="1170432"/>
            <a:ext cx="274320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2"/>
          <p:cNvSpPr/>
          <p:nvPr/>
        </p:nvSpPr>
        <p:spPr>
          <a:xfrm>
            <a:off x="6272784" y="120700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SP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6711696" y="120700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sp_statistika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6272784" y="1572768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Количество приёмов по специальностям за период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6272784" y="1938528"/>
            <a:ext cx="2606040" cy="2633472"/>
          </a:xfrm>
          <a:prstGeom prst="rect">
            <a:avLst/>
          </a:prstGeom>
          <a:solidFill>
            <a:srgbClr val="1A252F"/>
          </a:solidFill>
          <a:ln cap="flat" cmpd="sng" w="9525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6336792" y="2011680"/>
            <a:ext cx="2487168" cy="250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7FB3D3"/>
                </a:solidFill>
                <a:latin typeface="Courier New"/>
                <a:ea typeface="Courier New"/>
                <a:cs typeface="Courier New"/>
                <a:sym typeface="Courier New"/>
              </a:rPr>
              <a:t>CREATE PROCEDURE sp_statistika(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IN p_s_daty  DATE,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IN p_po_datu DATE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SELECT s.nazvanie AS specialnost,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       COUNT(*) AS kolichestvo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FROM priyomy pr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JOIN vrachi v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  ON pr.vrach_id = v.id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JOIN specialnosti 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  ON v.specialnost_id = s.id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WHERE DATE(pr.data_priyoma)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      BETWEEN p_s_daty AND p_po_datu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GROUP BY s.id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ORDER BY kolichestvo DESC;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256032" y="4882896"/>
            <a:ext cx="8631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ourier New"/>
              <a:buNone/>
            </a:pPr>
            <a:r>
              <a:rPr b="0" i="1" lang="en-US" sz="900" u="none" cap="none" strike="noStrike">
                <a:solidFill>
                  <a:srgbClr val="5D6D7E"/>
                </a:solidFill>
                <a:latin typeface="Courier New"/>
                <a:ea typeface="Courier New"/>
                <a:cs typeface="Courier New"/>
                <a:sym typeface="Courier New"/>
              </a:rPr>
              <a:t>Вызов: CALL sp_dobavit_patsienta('Гусейнов','Камал','1992-05-20','М','+994559991122');   CALL sp_istoriya_bolezni(1);   CALL sp_statistika('2024-11-01','2024-12-31');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8F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3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Тема 9 — Триггеры (Triggers)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Автоматические реакции на события в таблицах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256032" y="1170432"/>
            <a:ext cx="2743200" cy="3675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3"/>
          <p:cNvSpPr/>
          <p:nvPr/>
        </p:nvSpPr>
        <p:spPr>
          <a:xfrm>
            <a:off x="256032" y="1170432"/>
            <a:ext cx="2743200" cy="347472"/>
          </a:xfrm>
          <a:prstGeom prst="rect">
            <a:avLst/>
          </a:prstGeom>
          <a:solidFill>
            <a:srgbClr val="117A65"/>
          </a:solidFill>
          <a:ln cap="flat" cmpd="sng" w="12700">
            <a:solidFill>
              <a:srgbClr val="117A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3"/>
          <p:cNvSpPr/>
          <p:nvPr/>
        </p:nvSpPr>
        <p:spPr>
          <a:xfrm>
            <a:off x="329184" y="120700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Триггер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329184" y="1572768"/>
            <a:ext cx="2606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7A65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117A65"/>
                </a:solidFill>
                <a:latin typeface="Courier New"/>
                <a:ea typeface="Courier New"/>
                <a:cs typeface="Courier New"/>
                <a:sym typeface="Courier New"/>
              </a:rPr>
              <a:t>BEFORE DELETE ON patsienty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329184" y="1810512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Логирует каждое удаление пациента в таблицу log_udaleniya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329184" y="2194560"/>
            <a:ext cx="2606040" cy="2377440"/>
          </a:xfrm>
          <a:prstGeom prst="rect">
            <a:avLst/>
          </a:prstGeom>
          <a:solidFill>
            <a:srgbClr val="1A252F"/>
          </a:solidFill>
          <a:ln cap="flat" cmpd="sng" w="9525">
            <a:solidFill>
              <a:srgbClr val="117A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3"/>
          <p:cNvSpPr/>
          <p:nvPr/>
        </p:nvSpPr>
        <p:spPr>
          <a:xfrm>
            <a:off x="393192" y="2267712"/>
            <a:ext cx="2487168" cy="2249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7FB3D3"/>
                </a:solidFill>
                <a:latin typeface="Courier New"/>
                <a:ea typeface="Courier New"/>
                <a:cs typeface="Courier New"/>
                <a:sym typeface="Courier New"/>
              </a:rPr>
              <a:t>CREATE TRIGGER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trg_log_udalenie_patsienta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BEFORE DELETE ON patsienty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FOR EACH ROW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INSERT INTO log_udaleniya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  (tablitsa, zapis_id, opisanie)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VALUES ('patsienty', OLD.id,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  CONCAT('Удалён: ',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    OLD.familiya,' ',OLD.imya));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3227832" y="1170432"/>
            <a:ext cx="2743200" cy="3675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3"/>
          <p:cNvSpPr/>
          <p:nvPr/>
        </p:nvSpPr>
        <p:spPr>
          <a:xfrm>
            <a:off x="3227832" y="1170432"/>
            <a:ext cx="2743200" cy="347472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3"/>
          <p:cNvSpPr/>
          <p:nvPr/>
        </p:nvSpPr>
        <p:spPr>
          <a:xfrm>
            <a:off x="3300984" y="120700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Триггер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3300984" y="1572768"/>
            <a:ext cx="2606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2E86C1"/>
                </a:solidFill>
                <a:latin typeface="Courier New"/>
                <a:ea typeface="Courier New"/>
                <a:cs typeface="Courier New"/>
                <a:sym typeface="Courier New"/>
              </a:rPr>
              <a:t>BEFORE INSERT ON priyomy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3300984" y="1810512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Запрещает создавать приём задним числом более чем на 1 час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3300984" y="2194560"/>
            <a:ext cx="2606040" cy="2377440"/>
          </a:xfrm>
          <a:prstGeom prst="rect">
            <a:avLst/>
          </a:prstGeom>
          <a:solidFill>
            <a:srgbClr val="1A252F"/>
          </a:solidFill>
          <a:ln cap="flat" cmpd="sng" w="9525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3"/>
          <p:cNvSpPr/>
          <p:nvPr/>
        </p:nvSpPr>
        <p:spPr>
          <a:xfrm>
            <a:off x="3364992" y="2267712"/>
            <a:ext cx="2487168" cy="2249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7FB3D3"/>
                </a:solidFill>
                <a:latin typeface="Courier New"/>
                <a:ea typeface="Courier New"/>
                <a:cs typeface="Courier New"/>
                <a:sym typeface="Courier New"/>
              </a:rPr>
              <a:t>CREATE TRIGGER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trg_proverit_datu_priyoma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BEFORE INSERT ON priyomy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FOR EACH ROW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IF NEW.data_priyoma &lt;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   NOW() - INTERVAL 1 HOUR THEN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  SIGNAL SQLSTATE '45000'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  SET MESSAGE_TEXT =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    'Нельзя создать приём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     задним числом!';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END IF;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6199632" y="1170432"/>
            <a:ext cx="2743200" cy="36758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3"/>
          <p:cNvSpPr/>
          <p:nvPr/>
        </p:nvSpPr>
        <p:spPr>
          <a:xfrm>
            <a:off x="6199632" y="1170432"/>
            <a:ext cx="2743200" cy="347472"/>
          </a:xfrm>
          <a:prstGeom prst="rect">
            <a:avLst/>
          </a:prstGeom>
          <a:solidFill>
            <a:srgbClr val="922B21"/>
          </a:solidFill>
          <a:ln cap="flat" cmpd="sng" w="12700">
            <a:solidFill>
              <a:srgbClr val="922B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3"/>
          <p:cNvSpPr/>
          <p:nvPr/>
        </p:nvSpPr>
        <p:spPr>
          <a:xfrm>
            <a:off x="6272784" y="120700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Триггер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6272784" y="1572768"/>
            <a:ext cx="2606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2B21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922B21"/>
                </a:solidFill>
                <a:latin typeface="Courier New"/>
                <a:ea typeface="Courier New"/>
                <a:cs typeface="Courier New"/>
                <a:sym typeface="Courier New"/>
              </a:rPr>
              <a:t>AFTER UPDATE ON priyomy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6272784" y="1810512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При отмене приёма автоматически удаляет связанные рецепты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6272784" y="2194560"/>
            <a:ext cx="2606040" cy="2377440"/>
          </a:xfrm>
          <a:prstGeom prst="rect">
            <a:avLst/>
          </a:prstGeom>
          <a:solidFill>
            <a:srgbClr val="1A252F"/>
          </a:solidFill>
          <a:ln cap="flat" cmpd="sng" w="9525">
            <a:solidFill>
              <a:srgbClr val="922B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3"/>
          <p:cNvSpPr/>
          <p:nvPr/>
        </p:nvSpPr>
        <p:spPr>
          <a:xfrm>
            <a:off x="6336792" y="2267712"/>
            <a:ext cx="2487168" cy="2249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7FB3D3"/>
                </a:solidFill>
                <a:latin typeface="Courier New"/>
                <a:ea typeface="Courier New"/>
                <a:cs typeface="Courier New"/>
                <a:sym typeface="Courier New"/>
              </a:rPr>
              <a:t>CREATE TRIGGER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trg_otmena_udalit_retsepty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AFTER UPDATE ON priyomy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FOR EACH ROW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IF NEW.status = 'отменён'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AND OLD.status != 'отменён'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THEN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  DELETE FROM retsept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  WHERE priyom_id = OLD.id;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END IF;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780"/>
              <a:buFont typeface="Courier New"/>
              <a:buNone/>
            </a:pPr>
            <a:r>
              <a:rPr b="0" i="0" lang="en-US" sz="78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256032" y="4882896"/>
            <a:ext cx="8631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Триггеры работают автоматически — не требуют вызова. FOR EACH ROW — выполняется для каждой затронутой строки.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8FF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4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4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Тема 10 — Журнал транзакций. Фиксация. Типы блокировок.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ACID · COMMIT · ROLLBACK · SAVEPOINT · FOR UPDATE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256032" y="1170432"/>
            <a:ext cx="8631936" cy="658368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4"/>
          <p:cNvSpPr/>
          <p:nvPr/>
        </p:nvSpPr>
        <p:spPr>
          <a:xfrm>
            <a:off x="457200" y="1207008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731520" y="12070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Atomicity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731520" y="14081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Всё или ничего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2606040" y="1207008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2880360" y="12070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Consistency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2880360" y="14081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БД остаётся корректной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4754880" y="1207008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5029200" y="12070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Isolation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5029200" y="14081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Транзакции изолированы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6903720" y="1207008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7178040" y="12070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Durability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7178040" y="14081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Данные сохранены навсегда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256032" y="1920240"/>
            <a:ext cx="2743200" cy="1993392"/>
          </a:xfrm>
          <a:prstGeom prst="rect">
            <a:avLst/>
          </a:prstGeom>
          <a:solidFill>
            <a:srgbClr val="1A252F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4"/>
          <p:cNvSpPr/>
          <p:nvPr/>
        </p:nvSpPr>
        <p:spPr>
          <a:xfrm>
            <a:off x="365760" y="1993392"/>
            <a:ext cx="2560320" cy="1847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FB3D3"/>
                </a:solidFill>
                <a:latin typeface="Courier New"/>
                <a:ea typeface="Courier New"/>
                <a:cs typeface="Courier New"/>
                <a:sym typeface="Courier New"/>
              </a:rPr>
              <a:t>-- Транзакция 1: атомарно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-- добавить приём + рецепт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START TRANSACTION;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priyomy (...)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VALUES (...);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SET @id = LAST_INSERT_ID();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retsept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(priyom_id, preparat, doza)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VALUES (@id, 'Ибупрофен', '400мг');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COMMIT; -- фиксируем оба INSERT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3200400" y="1920240"/>
            <a:ext cx="2743200" cy="1993392"/>
          </a:xfrm>
          <a:prstGeom prst="rect">
            <a:avLst/>
          </a:prstGeom>
          <a:solidFill>
            <a:srgbClr val="1A252F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4"/>
          <p:cNvSpPr/>
          <p:nvPr/>
        </p:nvSpPr>
        <p:spPr>
          <a:xfrm>
            <a:off x="3310128" y="1993392"/>
            <a:ext cx="2560320" cy="1847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FB3D3"/>
                </a:solidFill>
                <a:latin typeface="Courier New"/>
                <a:ea typeface="Courier New"/>
                <a:cs typeface="Courier New"/>
                <a:sym typeface="Courier New"/>
              </a:rPr>
              <a:t>-- Транзакция 2: ROLLBACK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START TRANSACTION;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UPDATE patsienty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SET telefon = '+994500000000'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WHERE id = 1;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-- Что-то пошло не так...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ROLLBACK;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-- Номер НЕ изменился,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-- данные остались прежними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6144768" y="1920240"/>
            <a:ext cx="2743200" cy="1993392"/>
          </a:xfrm>
          <a:prstGeom prst="rect">
            <a:avLst/>
          </a:prstGeom>
          <a:solidFill>
            <a:srgbClr val="1A252F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4"/>
          <p:cNvSpPr/>
          <p:nvPr/>
        </p:nvSpPr>
        <p:spPr>
          <a:xfrm>
            <a:off x="6254496" y="1993392"/>
            <a:ext cx="2560320" cy="1847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FB3D3"/>
                </a:solidFill>
                <a:latin typeface="Courier New"/>
                <a:ea typeface="Courier New"/>
                <a:cs typeface="Courier New"/>
                <a:sym typeface="Courier New"/>
              </a:rPr>
              <a:t>-- Транзакция 3: SAVEPOINT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START TRANSACTION;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diagnozy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VALUES (NULL,'Z01.0','Осмотр');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SAVEPOINT sp1;  -- точка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diagnozy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  VALUES (NULL,'BAD','Ошибка');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ROLLBACK TO SAVEPOINT sp1;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-- Только 2-й откатился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9DFBF"/>
                </a:solidFill>
                <a:latin typeface="Courier New"/>
                <a:ea typeface="Courier New"/>
                <a:cs typeface="Courier New"/>
                <a:sym typeface="Courier New"/>
              </a:rPr>
              <a:t>COMMIT; -- 1-й сохранён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256032" y="4005072"/>
            <a:ext cx="8631936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256032" y="4005072"/>
            <a:ext cx="54864" cy="2926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4"/>
          <p:cNvSpPr/>
          <p:nvPr/>
        </p:nvSpPr>
        <p:spPr>
          <a:xfrm>
            <a:off x="365760" y="400507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БЛОКИРОВКИ (LOCKS)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347472" y="431596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2B2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FOR UPDATE (эксклюзивная)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4"/>
          <p:cNvSpPr/>
          <p:nvPr/>
        </p:nvSpPr>
        <p:spPr>
          <a:xfrm>
            <a:off x="347472" y="453542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0D1B2A"/>
                </a:solidFill>
                <a:latin typeface="Courier New"/>
                <a:ea typeface="Courier New"/>
                <a:cs typeface="Courier New"/>
                <a:sym typeface="Courier New"/>
              </a:rPr>
              <a:t>Сессия 1: SELECT * FROM patsienty WHERE id=1 FOR UPDATE;  → блокирует строку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4572000" y="4315968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7A6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17A65"/>
                </a:solidFill>
                <a:latin typeface="Calibri"/>
                <a:ea typeface="Calibri"/>
                <a:cs typeface="Calibri"/>
                <a:sym typeface="Calibri"/>
              </a:rPr>
              <a:t>LOCK IN SHARE MODE (разделяемая)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4"/>
          <p:cNvSpPr/>
          <p:nvPr/>
        </p:nvSpPr>
        <p:spPr>
          <a:xfrm>
            <a:off x="4572000" y="4535424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0D1B2A"/>
                </a:solidFill>
                <a:latin typeface="Courier New"/>
                <a:ea typeface="Courier New"/>
                <a:cs typeface="Courier New"/>
                <a:sym typeface="Courier New"/>
              </a:rPr>
              <a:t>Сессия 2: SELECT * FROM patsienty WHERE id=1 LOCK IN SHARE MODE;  → ждёт COMMIT Сессии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256032" y="4974336"/>
            <a:ext cx="8631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InnoDB использует row-level locking — блокируется строка, а не вся таблица, что даёт высокую параллельность.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8FF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5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5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Тестовые данные и структура БД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Что уже заполнено в базе данных поликлиники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274320" y="1170432"/>
            <a:ext cx="1298448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5"/>
          <p:cNvSpPr/>
          <p:nvPr/>
        </p:nvSpPr>
        <p:spPr>
          <a:xfrm>
            <a:off x="274320" y="1170432"/>
            <a:ext cx="1298448" cy="54864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5"/>
          <p:cNvSpPr/>
          <p:nvPr/>
        </p:nvSpPr>
        <p:spPr>
          <a:xfrm>
            <a:off x="274320" y="1225296"/>
            <a:ext cx="1298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274320" y="1627632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специальностей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1719072" y="1170432"/>
            <a:ext cx="1298448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5"/>
          <p:cNvSpPr/>
          <p:nvPr/>
        </p:nvSpPr>
        <p:spPr>
          <a:xfrm>
            <a:off x="1719072" y="1170432"/>
            <a:ext cx="1298448" cy="54864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5"/>
          <p:cNvSpPr/>
          <p:nvPr/>
        </p:nvSpPr>
        <p:spPr>
          <a:xfrm>
            <a:off x="1719072" y="1225296"/>
            <a:ext cx="1298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1719072" y="1627632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врачей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3163824" y="1170432"/>
            <a:ext cx="1298448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3163824" y="1170432"/>
            <a:ext cx="1298448" cy="54864"/>
          </a:xfrm>
          <a:prstGeom prst="rect">
            <a:avLst/>
          </a:prstGeom>
          <a:solidFill>
            <a:srgbClr val="117A65"/>
          </a:solidFill>
          <a:ln cap="flat" cmpd="sng" w="12700">
            <a:solidFill>
              <a:srgbClr val="117A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5"/>
          <p:cNvSpPr/>
          <p:nvPr/>
        </p:nvSpPr>
        <p:spPr>
          <a:xfrm>
            <a:off x="3163824" y="1225296"/>
            <a:ext cx="1298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7A65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17A6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3163824" y="1627632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пациентов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4608576" y="1170432"/>
            <a:ext cx="1298448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5"/>
          <p:cNvSpPr/>
          <p:nvPr/>
        </p:nvSpPr>
        <p:spPr>
          <a:xfrm>
            <a:off x="4608576" y="1170432"/>
            <a:ext cx="1298448" cy="54864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5"/>
          <p:cNvSpPr/>
          <p:nvPr/>
        </p:nvSpPr>
        <p:spPr>
          <a:xfrm>
            <a:off x="4608576" y="1225296"/>
            <a:ext cx="1298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4608576" y="1627632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диагнозов МКБ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6053328" y="1170432"/>
            <a:ext cx="1298448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5"/>
          <p:cNvSpPr/>
          <p:nvPr/>
        </p:nvSpPr>
        <p:spPr>
          <a:xfrm>
            <a:off x="6053328" y="1170432"/>
            <a:ext cx="1298448" cy="54864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5"/>
          <p:cNvSpPr/>
          <p:nvPr/>
        </p:nvSpPr>
        <p:spPr>
          <a:xfrm>
            <a:off x="6053328" y="1225296"/>
            <a:ext cx="1298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6053328" y="1627632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приёмов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5"/>
          <p:cNvSpPr/>
          <p:nvPr/>
        </p:nvSpPr>
        <p:spPr>
          <a:xfrm>
            <a:off x="7498080" y="1170432"/>
            <a:ext cx="1298448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5"/>
          <p:cNvSpPr/>
          <p:nvPr/>
        </p:nvSpPr>
        <p:spPr>
          <a:xfrm>
            <a:off x="7498080" y="1170432"/>
            <a:ext cx="1298448" cy="54864"/>
          </a:xfrm>
          <a:prstGeom prst="rect">
            <a:avLst/>
          </a:prstGeom>
          <a:solidFill>
            <a:srgbClr val="B7950B"/>
          </a:solidFill>
          <a:ln cap="flat" cmpd="sng" w="12700">
            <a:solidFill>
              <a:srgbClr val="B795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5"/>
          <p:cNvSpPr/>
          <p:nvPr/>
        </p:nvSpPr>
        <p:spPr>
          <a:xfrm>
            <a:off x="7498080" y="1225296"/>
            <a:ext cx="1298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950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B7950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5"/>
          <p:cNvSpPr/>
          <p:nvPr/>
        </p:nvSpPr>
        <p:spPr>
          <a:xfrm>
            <a:off x="7498080" y="1627632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рецептов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274320" y="2084832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Пример данных — таблица PRIYOMY (приёмы):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7" name="Google Shape;497;p15"/>
          <p:cNvGraphicFramePr/>
          <p:nvPr/>
        </p:nvGraphicFramePr>
        <p:xfrm>
          <a:off x="274320" y="2395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{F6CAF831-C678-4258-965F-21C521DED167}</a:tableStyleId>
              </a:tblPr>
              <a:tblGrid>
                <a:gridCol w="320050"/>
                <a:gridCol w="1280150"/>
                <a:gridCol w="1371600"/>
                <a:gridCol w="1371600"/>
                <a:gridCol w="2148850"/>
                <a:gridCol w="1188725"/>
              </a:tblGrid>
              <a:tr h="297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Пациент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Врач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Дата приёма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Диагноз (МКБ)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Статус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297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Алиев Фарид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Иванов Алексей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10.11.2024 09:00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J06.9 — ОРВИ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завершён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8FF"/>
                    </a:solidFill>
                  </a:tcPr>
                </a:tc>
              </a:tr>
              <a:tr h="297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Гасанова Лейла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Смирнова Ольга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11.11.2024 10:30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I10 — Гипертензия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завершён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7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Мамедов Эльчин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Петров Дмитрий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12.11.2024 11:00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G43.0 — Мигрень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завершён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8FF"/>
                    </a:solidFill>
                  </a:tcPr>
                </a:tc>
              </a:tr>
              <a:tr h="297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Юсупова Гюльнара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Новикова Светлана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13.11.2024 09:30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Z00.0 — Осмотр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завершён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7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Рзаев Нариман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Иванов Алексей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14.11.2024 14:00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K29.1 — Гастрит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завершён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8FF"/>
                    </a:solidFill>
                  </a:tcPr>
                </a:tc>
              </a:tr>
              <a:tr h="297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Мамедов Эльчин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Смирнова Ольга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20.02.2025 11:00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запланирован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8" name="Google Shape;498;p15"/>
          <p:cNvSpPr/>
          <p:nvPr/>
        </p:nvSpPr>
        <p:spPr>
          <a:xfrm>
            <a:off x="274320" y="4572000"/>
            <a:ext cx="8595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Все данные реальны — используй их для демонстрации SELECT-запросов на слайде.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6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2E86C1">
              <a:alpha val="14901"/>
            </a:srgbClr>
          </a:solidFill>
          <a:ln cap="flat" cmpd="sng" w="12700">
            <a:solidFill>
              <a:srgbClr val="2E86C1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6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117A65">
              <a:alpha val="12156"/>
            </a:srgbClr>
          </a:solidFill>
          <a:ln cap="flat" cmpd="sng" w="12700">
            <a:solidFill>
              <a:srgbClr val="117A65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6"/>
          <p:cNvSpPr/>
          <p:nvPr/>
        </p:nvSpPr>
        <p:spPr>
          <a:xfrm>
            <a:off x="548640" y="41148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ИТОГ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548640" y="82296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Что реализовано в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базе данных «Поликлиника»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457200" y="19202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6"/>
          <p:cNvSpPr/>
          <p:nvPr/>
        </p:nvSpPr>
        <p:spPr>
          <a:xfrm>
            <a:off x="877824" y="1965960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6 таблиц в 3НФ с FK-ограничениями и индексами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457200" y="25877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877824" y="2633472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5 SELECT-запросов: простой, JOIN, GROUP BY, подзапрос, агрегация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6"/>
          <p:cNvSpPr/>
          <p:nvPr/>
        </p:nvSpPr>
        <p:spPr>
          <a:xfrm>
            <a:off x="457200" y="32552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👥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6"/>
          <p:cNvSpPr/>
          <p:nvPr/>
        </p:nvSpPr>
        <p:spPr>
          <a:xfrm>
            <a:off x="877824" y="3300984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4 пользователя с разграниченными правами (GRANT/REVOKE)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6"/>
          <p:cNvSpPr/>
          <p:nvPr/>
        </p:nvSpPr>
        <p:spPr>
          <a:xfrm>
            <a:off x="457200" y="392277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👁️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6"/>
          <p:cNvSpPr/>
          <p:nvPr/>
        </p:nvSpPr>
        <p:spPr>
          <a:xfrm>
            <a:off x="877824" y="3968496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2 VIEW — защитный экран для Web-приложения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4754880" y="19202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5175504" y="1965960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3 хранимые процедуры: добавление, история, статистика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4754880" y="25877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5175504" y="2633472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3 триггера: лог удаления, проверка даты, автоочистка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4754880" y="32552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5175504" y="3300984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3 транзакции: COMMIT, ROLLBACK, SAVEPOINT + блокировки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6"/>
          <p:cNvSpPr/>
          <p:nvPr/>
        </p:nvSpPr>
        <p:spPr>
          <a:xfrm>
            <a:off x="4754880" y="392277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5175504" y="3968496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Жизненный цикл: ALTER TABLE, архивирование, все 6 этапов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457200" y="4663440"/>
            <a:ext cx="8229600" cy="36576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Файл: poliklinika_db.sql  •  MySQL 8.0  •  InnoDB  •  UTF-8  •  Нормализация 3НФ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